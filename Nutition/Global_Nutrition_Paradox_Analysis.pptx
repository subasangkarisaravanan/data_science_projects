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 snapToGrid="0" snapToObjects="1">
      <p:cViewPr>
        <p:scale>
          <a:sx n="76" d="100"/>
          <a:sy n="76" d="100"/>
        </p:scale>
        <p:origin x="-1218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 Nutrition Paradox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Obesity &amp; Malnutrition Trends (2012–2022</a:t>
            </a:r>
            <a:r>
              <a:rPr dirty="0" smtClean="0"/>
              <a:t>)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 smtClean="0"/>
              <a:t>This </a:t>
            </a:r>
            <a:r>
              <a:rPr lang="en-US" sz="2400" dirty="0"/>
              <a:t>project analyzes global obesity and malnutrition patterns using WHO data to understand trends, disparities, and public health implications.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dirty="0"/>
              <a:t>Obesity and malnutrition are major global health </a:t>
            </a:r>
            <a:r>
              <a:rPr dirty="0" smtClean="0"/>
              <a:t>challenges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dirty="0" smtClean="0"/>
              <a:t>Some </a:t>
            </a:r>
            <a:r>
              <a:rPr dirty="0"/>
              <a:t>regions suffer from </a:t>
            </a:r>
            <a:r>
              <a:rPr lang="en-US" dirty="0" smtClean="0"/>
              <a:t>Mal</a:t>
            </a:r>
            <a:r>
              <a:rPr dirty="0" smtClean="0"/>
              <a:t>nutrition </a:t>
            </a:r>
            <a:r>
              <a:rPr dirty="0"/>
              <a:t>while others face rising </a:t>
            </a:r>
            <a:r>
              <a:rPr dirty="0" smtClean="0"/>
              <a:t>obesity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dirty="0" smtClean="0"/>
              <a:t>Goal</a:t>
            </a:r>
            <a:r>
              <a:rPr dirty="0"/>
              <a:t>: Use data to guide public health </a:t>
            </a:r>
            <a:r>
              <a:rPr dirty="0" smtClean="0"/>
              <a:t>decisions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We </a:t>
            </a:r>
            <a:r>
              <a:rPr lang="en-US" dirty="0"/>
              <a:t>wanted to understand where the world is struggling with nutrition and how data can help guide interventions</a:t>
            </a:r>
            <a:r>
              <a:rPr lang="en-US" dirty="0" smtClean="0"/>
              <a:t>.</a:t>
            </a:r>
            <a:endParaRPr lang="en-US" dirty="0"/>
          </a:p>
          <a:p>
            <a:pPr marL="457200" lvl="1" indent="0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Source: </a:t>
            </a:r>
            <a:r>
              <a:rPr lang="en-US" sz="2000" b="1" dirty="0"/>
              <a:t>WHO Global </a:t>
            </a:r>
            <a:r>
              <a:rPr lang="en-US" sz="2000" b="1"/>
              <a:t>Health </a:t>
            </a:r>
            <a:r>
              <a:rPr lang="en-US" sz="2000" b="1" smtClean="0"/>
              <a:t>Observatory</a:t>
            </a:r>
            <a:endParaRPr lang="en-US" sz="2000" dirty="0"/>
          </a:p>
          <a:p>
            <a:r>
              <a:rPr lang="en-US" sz="2000" dirty="0"/>
              <a:t>Indicators:</a:t>
            </a:r>
          </a:p>
          <a:p>
            <a:pPr lvl="1"/>
            <a:r>
              <a:rPr lang="en-US" sz="2000" dirty="0"/>
              <a:t>Adult &amp; child obesity</a:t>
            </a:r>
          </a:p>
          <a:p>
            <a:pPr lvl="1"/>
            <a:r>
              <a:rPr lang="en-US" sz="2000" dirty="0"/>
              <a:t>Adult &amp; child malnutrition</a:t>
            </a:r>
          </a:p>
          <a:p>
            <a:r>
              <a:rPr lang="en-US" sz="2000" dirty="0"/>
              <a:t>Coverage:</a:t>
            </a:r>
          </a:p>
          <a:p>
            <a:pPr lvl="1"/>
            <a:r>
              <a:rPr lang="en-US" sz="2000" dirty="0"/>
              <a:t>Countries &amp; regions worldwide</a:t>
            </a:r>
          </a:p>
          <a:p>
            <a:pPr lvl="1"/>
            <a:r>
              <a:rPr lang="en-US" sz="2000" dirty="0"/>
              <a:t>Genders and age groups</a:t>
            </a:r>
          </a:p>
          <a:p>
            <a:r>
              <a:rPr lang="en-US" sz="2000" dirty="0"/>
              <a:t>Time period: </a:t>
            </a:r>
            <a:r>
              <a:rPr lang="en-US" sz="2000" b="1" dirty="0" smtClean="0"/>
              <a:t>2012–2022</a:t>
            </a:r>
          </a:p>
          <a:p>
            <a:pPr marL="0" indent="0">
              <a:buNone/>
            </a:pPr>
            <a:r>
              <a:rPr lang="en-US" sz="2000" dirty="0"/>
              <a:t>We used official WHO data, which ensures credibility and global coverage.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3600" dirty="0"/>
              <a:t>Data Cleaning Steps</a:t>
            </a:r>
          </a:p>
          <a:p>
            <a:pPr lvl="1"/>
            <a:r>
              <a:rPr dirty="0" smtClean="0"/>
              <a:t>Converted </a:t>
            </a:r>
            <a:r>
              <a:rPr dirty="0"/>
              <a:t>country codes to readable </a:t>
            </a:r>
            <a:r>
              <a:rPr dirty="0" smtClean="0"/>
              <a:t>names</a:t>
            </a:r>
            <a:endParaRPr lang="en-US" dirty="0" smtClean="0"/>
          </a:p>
          <a:p>
            <a:pPr lvl="1"/>
            <a:r>
              <a:rPr lang="en-US" dirty="0"/>
              <a:t>Standardized gender values (Male, Female, Both)</a:t>
            </a:r>
            <a:endParaRPr dirty="0"/>
          </a:p>
          <a:p>
            <a:pPr lvl="1"/>
            <a:r>
              <a:rPr dirty="0"/>
              <a:t>Handled missing region values</a:t>
            </a:r>
          </a:p>
          <a:p>
            <a:pPr lvl="1"/>
            <a:r>
              <a:rPr dirty="0"/>
              <a:t>Filtered data for </a:t>
            </a:r>
            <a:r>
              <a:rPr dirty="0" smtClean="0"/>
              <a:t>consistent </a:t>
            </a:r>
            <a:r>
              <a:rPr dirty="0"/>
              <a:t>years (2012–2022</a:t>
            </a:r>
            <a:r>
              <a:rPr dirty="0" smtClean="0"/>
              <a:t>)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Cleaning ensured the data was consistent and ready for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New Features Created</a:t>
            </a:r>
          </a:p>
          <a:p>
            <a:r>
              <a:rPr lang="en-US" sz="2000" b="1" dirty="0"/>
              <a:t>CI Width</a:t>
            </a:r>
            <a:r>
              <a:rPr lang="en-US" sz="2000" dirty="0"/>
              <a:t> = Upper Bound − Lower Bound</a:t>
            </a:r>
            <a:br>
              <a:rPr lang="en-US" sz="2000" dirty="0"/>
            </a:br>
            <a:r>
              <a:rPr lang="en-US" sz="2000" dirty="0"/>
              <a:t>→ Used to measure data reliability</a:t>
            </a:r>
          </a:p>
          <a:p>
            <a:r>
              <a:rPr lang="en-US" sz="2000" dirty="0"/>
              <a:t>Obesity levels: Low | Moderate | High</a:t>
            </a:r>
          </a:p>
          <a:p>
            <a:r>
              <a:rPr lang="en-US" sz="2000" dirty="0"/>
              <a:t>Malnutrition levels: Low | Moderate | High</a:t>
            </a:r>
          </a:p>
          <a:p>
            <a:r>
              <a:rPr lang="en-US" sz="2000" dirty="0"/>
              <a:t>Age groups: Adult | </a:t>
            </a:r>
            <a:r>
              <a:rPr lang="en-US" sz="2000" dirty="0" smtClean="0"/>
              <a:t>Child/Adolescent</a:t>
            </a:r>
          </a:p>
          <a:p>
            <a:pPr marL="0" indent="0">
              <a:buNone/>
            </a:pPr>
            <a:r>
              <a:rPr lang="en-US" sz="2000" dirty="0"/>
              <a:t>These features helped us measure severity and confidence in the data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EDA Techniques Used</a:t>
            </a:r>
          </a:p>
          <a:p>
            <a:r>
              <a:rPr lang="en-US" dirty="0"/>
              <a:t>Histograms &amp; KDE plots</a:t>
            </a:r>
          </a:p>
          <a:p>
            <a:r>
              <a:rPr lang="en-US" dirty="0"/>
              <a:t>Boxplots for group comparison</a:t>
            </a:r>
          </a:p>
          <a:p>
            <a:r>
              <a:rPr lang="en-US" dirty="0"/>
              <a:t>Line plots for trend </a:t>
            </a:r>
            <a:r>
              <a:rPr lang="en-US" dirty="0" smtClean="0"/>
              <a:t>analysis</a:t>
            </a:r>
          </a:p>
          <a:p>
            <a:pPr marL="0" indent="0">
              <a:buNone/>
            </a:pPr>
            <a:r>
              <a:rPr lang="en-US" dirty="0"/>
              <a:t>EDA helped us understand the data before drawing conclusions.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2000" dirty="0"/>
              <a:t>Obesity data is </a:t>
            </a:r>
            <a:r>
              <a:rPr sz="2000" dirty="0" smtClean="0"/>
              <a:t>right-skewed</a:t>
            </a:r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sz="2000" dirty="0" smtClean="0"/>
              <a:t>Most </a:t>
            </a:r>
            <a:r>
              <a:rPr sz="2000" dirty="0"/>
              <a:t>countries have low to moderate </a:t>
            </a:r>
            <a:r>
              <a:rPr sz="2000" dirty="0" smtClean="0"/>
              <a:t>obesity</a:t>
            </a:r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sz="2000" dirty="0" smtClean="0"/>
              <a:t>Few </a:t>
            </a:r>
            <a:r>
              <a:rPr sz="2000" dirty="0"/>
              <a:t>countries have extremely high obesity </a:t>
            </a:r>
            <a:r>
              <a:rPr sz="2000" dirty="0" smtClean="0"/>
              <a:t>rates</a:t>
            </a:r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sz="2000" dirty="0" smtClean="0"/>
              <a:t>Malnutrition </a:t>
            </a:r>
            <a:r>
              <a:rPr sz="2000" dirty="0"/>
              <a:t>shows wide variance across countries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009" y="3062686"/>
            <a:ext cx="4300506" cy="322537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134793"/>
            <a:ext cx="4000809" cy="30006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Demographic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2000" dirty="0"/>
              <a:t>Female obesity higher than male in many </a:t>
            </a:r>
            <a:r>
              <a:rPr sz="2000" dirty="0" smtClean="0"/>
              <a:t>countries</a:t>
            </a:r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sz="2000" dirty="0" smtClean="0"/>
              <a:t>Children </a:t>
            </a:r>
            <a:r>
              <a:rPr sz="2000" dirty="0"/>
              <a:t>and adolescents more vulnerable to </a:t>
            </a:r>
            <a:r>
              <a:rPr sz="2000" dirty="0" smtClean="0"/>
              <a:t>malnutrition</a:t>
            </a:r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sz="2000" dirty="0" smtClean="0"/>
              <a:t>Presence </a:t>
            </a:r>
            <a:r>
              <a:rPr sz="2000" dirty="0"/>
              <a:t>of extreme outliers indicates crisis regions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679" y="2724403"/>
            <a:ext cx="4318563" cy="32389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24403"/>
            <a:ext cx="4535679" cy="3401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Trends Over Time (2012–2022)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2000" dirty="0"/>
              <a:t>Global obesity shows a steady increasing </a:t>
            </a:r>
            <a:r>
              <a:rPr sz="2000" dirty="0" smtClean="0"/>
              <a:t>trend</a:t>
            </a:r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sz="2000" dirty="0" smtClean="0"/>
              <a:t>Malnutrition </a:t>
            </a:r>
            <a:r>
              <a:rPr sz="2000" dirty="0"/>
              <a:t>declines slowly and </a:t>
            </a:r>
            <a:r>
              <a:rPr sz="2000" dirty="0" smtClean="0"/>
              <a:t>unevenly</a:t>
            </a:r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sz="2000" dirty="0" smtClean="0"/>
              <a:t>Progress </a:t>
            </a:r>
            <a:r>
              <a:rPr sz="2000" dirty="0"/>
              <a:t>varies significantly by region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598" y="2681502"/>
            <a:ext cx="4203725" cy="31527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79" y="2681502"/>
            <a:ext cx="4407919" cy="33059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SQL-Based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/>
              <a:t>To validate visual findings numerically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To compare regions, countries, and demographics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To identify </a:t>
            </a:r>
            <a:r>
              <a:rPr lang="en-US" sz="2000" dirty="0" smtClean="0"/>
              <a:t>high-risk </a:t>
            </a:r>
            <a:r>
              <a:rPr lang="en-US" sz="2000" dirty="0"/>
              <a:t>and low-reliability </a:t>
            </a:r>
            <a:r>
              <a:rPr lang="en-US" sz="2000" dirty="0" smtClean="0"/>
              <a:t>areas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SQL provided strong numerical evidence to support visual insights.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Regions Requiring Intervention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1800" dirty="0"/>
              <a:t>Africa and South-East Asia: High </a:t>
            </a:r>
            <a:r>
              <a:rPr sz="1800" dirty="0" smtClean="0"/>
              <a:t>malnutrition</a:t>
            </a:r>
            <a:endParaRPr lang="en-US" sz="1800" dirty="0" smtClean="0"/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Western Pacific and Americas</a:t>
            </a:r>
            <a:r>
              <a:rPr sz="1800" dirty="0" smtClean="0"/>
              <a:t>: </a:t>
            </a:r>
            <a:r>
              <a:rPr sz="1800" dirty="0"/>
              <a:t>Rising </a:t>
            </a:r>
            <a:r>
              <a:rPr sz="1800" dirty="0" smtClean="0"/>
              <a:t>obesity</a:t>
            </a:r>
            <a:endParaRPr lang="en-US" sz="1800" dirty="0" smtClean="0"/>
          </a:p>
          <a:p>
            <a:pPr>
              <a:buFont typeface="Wingdings" pitchFamily="2" charset="2"/>
              <a:buChar char="Ø"/>
            </a:pPr>
            <a:r>
              <a:rPr sz="1800" dirty="0" smtClean="0"/>
              <a:t>Need </a:t>
            </a:r>
            <a:r>
              <a:rPr sz="1800" dirty="0"/>
              <a:t>region-specific health </a:t>
            </a:r>
            <a:r>
              <a:rPr sz="1800" dirty="0" smtClean="0"/>
              <a:t>strategies</a:t>
            </a:r>
            <a:endParaRPr lang="en-US" sz="1800" dirty="0" smtClean="0"/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Low-income regions face </a:t>
            </a:r>
            <a:r>
              <a:rPr lang="en-US" sz="1800" dirty="0" smtClean="0"/>
              <a:t>Malnutrition </a:t>
            </a:r>
            <a:r>
              <a:rPr lang="en-US" sz="1800" dirty="0"/>
              <a:t>crises, while high-income and rapidly urbanizing regions struggle with obesity — demanding region-specific intervention strategies.</a:t>
            </a:r>
            <a:endParaRPr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137" y="3751546"/>
            <a:ext cx="4521984" cy="305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38" y="3701442"/>
            <a:ext cx="3945448" cy="3156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Most Vulnerable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400" dirty="0"/>
              <a:t>Adults → Higher malnutrition prevalence</a:t>
            </a:r>
          </a:p>
          <a:p>
            <a:pPr>
              <a:buFont typeface="Wingdings" pitchFamily="2" charset="2"/>
              <a:buChar char="Ø"/>
            </a:pPr>
            <a:r>
              <a:rPr lang="en-US" sz="1400" dirty="0"/>
              <a:t>Children &amp; adolescents → Persistent nutritional vulnerability</a:t>
            </a:r>
          </a:p>
          <a:p>
            <a:pPr>
              <a:buFont typeface="Wingdings" pitchFamily="2" charset="2"/>
              <a:buChar char="Ø"/>
            </a:pPr>
            <a:r>
              <a:rPr lang="en-US" sz="1400" dirty="0"/>
              <a:t>Adult women → Highest obesity </a:t>
            </a:r>
            <a:r>
              <a:rPr lang="en-US" sz="1400" dirty="0" smtClean="0"/>
              <a:t>prevalence</a:t>
            </a:r>
          </a:p>
          <a:p>
            <a:pPr>
              <a:buFont typeface="Wingdings" pitchFamily="2" charset="2"/>
              <a:buChar char="Ø"/>
            </a:pPr>
            <a:r>
              <a:rPr lang="en-US" sz="1400" dirty="0"/>
              <a:t>Although children are traditionally viewed as the most vulnerable group, our WHO data analysis shows that adults currently exhibit a higher average malnutrition prevalence. This highlights a double burden of malnutrition, where adult </a:t>
            </a:r>
            <a:r>
              <a:rPr lang="en-US" sz="1400" dirty="0" smtClean="0"/>
              <a:t>Malnutrition </a:t>
            </a:r>
            <a:r>
              <a:rPr lang="en-US" sz="1400" dirty="0"/>
              <a:t>coexists with rising obesity, particularly among women. Hence, nutrition policies must be age- and gender-specific.</a:t>
            </a:r>
          </a:p>
          <a:p>
            <a:pPr>
              <a:buFont typeface="Wingdings" pitchFamily="2" charset="2"/>
              <a:buChar char="Ø"/>
            </a:pPr>
            <a:endParaRPr lang="en-US" sz="1400" dirty="0"/>
          </a:p>
          <a:p>
            <a:pPr>
              <a:buFont typeface="Wingdings" pitchFamily="2" charset="2"/>
              <a:buChar char="Ø"/>
            </a:pPr>
            <a:endParaRPr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67" y="4079202"/>
            <a:ext cx="2586625" cy="2285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547" y="3831048"/>
            <a:ext cx="2400188" cy="2149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761" y="3907151"/>
            <a:ext cx="3429000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Reliability Across Regions (Average CI Width)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Confidence Interval (CI) width is used to assess data reliability</a:t>
            </a:r>
          </a:p>
          <a:p>
            <a:r>
              <a:rPr lang="en-US" sz="1600" dirty="0"/>
              <a:t>Higher CI width → Greater uncertainty → Lower reliability</a:t>
            </a:r>
          </a:p>
          <a:p>
            <a:r>
              <a:rPr lang="en-US" sz="1600" dirty="0"/>
              <a:t>Low-income regions show wider confidence intervals due to limited data coverage</a:t>
            </a:r>
          </a:p>
          <a:p>
            <a:r>
              <a:rPr lang="en-US" sz="1600" dirty="0"/>
              <a:t>Regions with lower CI width provide more reliable benchmarks for comparison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3381376"/>
            <a:ext cx="4136460" cy="3325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679" y="3201902"/>
            <a:ext cx="3616760" cy="3423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Health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/>
              <a:t>Strengthen nutrition programs for adults, addressing rising adult malnutrition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Implement gender-specific obesity interventions, especially for women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Prioritize high-risk regions (Africa &amp; South-East Asia) for focused support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Improve data collection systems in regions with high CI width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Use reliable regions as benchmarks for best practices and policy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/>
              <a:t>Nutrition challenges show a dual burden: rising obesity alongside persistent malnutrition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Regional disparities are significant, with Africa and South-East Asia facing higher risk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Adults exhibit higher average malnutrition, while obesity is concentrated among adult women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Data reliability varies, requiring cautious interpretation in high-uncertainty regions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Targeted, data-driven policies are essential for effective nutrition </a:t>
            </a:r>
            <a:r>
              <a:rPr lang="en-US" sz="2000" dirty="0" smtClean="0"/>
              <a:t>interventions</a:t>
            </a:r>
          </a:p>
          <a:p>
            <a:pPr marL="0" indent="0">
              <a:buNone/>
            </a:pPr>
            <a:r>
              <a:rPr lang="en-US" sz="1800" dirty="0"/>
              <a:t>This analysis highlights the complex nature of global nutrition challenges. The coexistence of malnutrition and obesity, regional inequality, and varying data reliability underscores the need for targeted, evidence-based policies supported by strong data systems.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(Pandas, Matplotlib, Seaborn)</a:t>
            </a:r>
          </a:p>
          <a:p>
            <a:pPr lvl="1"/>
            <a:r>
              <a:t>SQL &amp; SQLite</a:t>
            </a:r>
          </a:p>
          <a:p>
            <a:pPr lvl="1"/>
            <a:r>
              <a:t>Streamlit Dashboard</a:t>
            </a:r>
          </a:p>
          <a:p>
            <a:pPr lvl="1"/>
            <a:r>
              <a:t>WHO GHO API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649</Words>
  <Application>Microsoft Office PowerPoint</Application>
  <PresentationFormat>On-screen Show (4:3)</PresentationFormat>
  <Paragraphs>90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Global Nutrition Paradox Analysis</vt:lpstr>
      <vt:lpstr>Problem Statement</vt:lpstr>
      <vt:lpstr>Data Source &amp; Scope</vt:lpstr>
      <vt:lpstr>Data Cleaning &amp; Preparation</vt:lpstr>
      <vt:lpstr>Feature Engineering</vt:lpstr>
      <vt:lpstr>Exploratory Data Analysis (EDA)</vt:lpstr>
      <vt:lpstr>Distribution Insights</vt:lpstr>
      <vt:lpstr>Demographic Insights</vt:lpstr>
      <vt:lpstr>Trends Over Time (2012–2022)</vt:lpstr>
      <vt:lpstr>SQL-Based Analysis</vt:lpstr>
      <vt:lpstr>Regions Requiring Intervention</vt:lpstr>
      <vt:lpstr>Most Vulnerable Groups</vt:lpstr>
      <vt:lpstr>Data Reliability Across Regions (Average CI Width)</vt:lpstr>
      <vt:lpstr>Public Health Recommendations</vt:lpstr>
      <vt:lpstr>Conclusion</vt:lpstr>
      <vt:lpstr>Tools &amp; Technologies Used</vt:lpstr>
      <vt:lpstr>Thank You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Nutrition Paradox Analysis</dc:title>
  <dc:creator>Subasangkari</dc:creator>
  <dc:description>generated using python-pptx</dc:description>
  <cp:lastModifiedBy>Siva</cp:lastModifiedBy>
  <cp:revision>11</cp:revision>
  <dcterms:created xsi:type="dcterms:W3CDTF">2013-01-27T09:14:16Z</dcterms:created>
  <dcterms:modified xsi:type="dcterms:W3CDTF">2026-01-08T10:41:00Z</dcterms:modified>
</cp:coreProperties>
</file>